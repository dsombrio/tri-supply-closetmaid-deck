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32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EE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2926080"/>
            <a:ext cx="5029200" cy="64008"/>
          </a:xfrm>
          <a:prstGeom prst="rect">
            <a:avLst/>
          </a:prstGeom>
          <a:solidFill>
            <a:srgbClr val="EE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</a:rPr>
              <a:t>ClosetMaid Pro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317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EE2E24"/>
                </a:solidFill>
              </a:rPr>
              <a:t>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8036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EE2E24"/>
                </a:solidFill>
              </a:rPr>
              <a:t>Tri-Supply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1148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757575"/>
                </a:solidFill>
              </a:rPr>
              <a:t>Conroe, TX  •  April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074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757575"/>
                </a:solidFill>
              </a:rPr>
              <a:t>Welcome to the ClosetMaid Pro Partner Network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172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57575"/>
                </a:solidFill>
              </a:rPr>
              <a:t>closetmaidpro.com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EE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"/>
            <a:ext cx="91440" cy="6766560"/>
          </a:xfrm>
          <a:prstGeom prst="rect">
            <a:avLst/>
          </a:prstGeom>
          <a:solidFill>
            <a:srgbClr val="EE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4747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80D43"/>
                </a:solidFill>
              </a:rPr>
              <a:t>The Opportunity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051560"/>
            <a:ext cx="2377440" cy="50292"/>
          </a:xfrm>
          <a:prstGeom prst="rect">
            <a:avLst/>
          </a:prstGeom>
          <a:solidFill>
            <a:srgbClr val="EE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261872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300"/>
              </a:spcBef>
              <a:spcAft>
                <a:spcPts val="500"/>
              </a:spcAft>
            </a:pPr>
            <a:r>
              <a:rPr b="1" sz="2000">
                <a:solidFill>
                  <a:srgbClr val="180D43"/>
                </a:solidFill>
              </a:rPr>
              <a:t>Your current focus:  </a:t>
            </a:r>
            <a:r>
              <a:rPr b="0" sz="2000">
                <a:solidFill>
                  <a:srgbClr val="232120"/>
                </a:solidFill>
              </a:rPr>
              <a:t>MDF-based closet shelving sold directly to builders</a:t>
            </a:r>
          </a:p>
          <a:p>
            <a:pPr>
              <a:spcBef>
                <a:spcPts val="1300"/>
              </a:spcBef>
              <a:spcAft>
                <a:spcPts val="500"/>
              </a:spcAft>
            </a:pPr>
            <a:r>
              <a:rPr b="1" sz="2000">
                <a:solidFill>
                  <a:srgbClr val="180D43"/>
                </a:solidFill>
              </a:rPr>
              <a:t>The market shift:  </a:t>
            </a:r>
            <a:r>
              <a:rPr b="0" sz="2000">
                <a:solidFill>
                  <a:srgbClr val="232120"/>
                </a:solidFill>
              </a:rPr>
              <a:t>Builders are moving toward faster installation and lower-maintenance options</a:t>
            </a:r>
          </a:p>
          <a:p>
            <a:pPr>
              <a:spcBef>
                <a:spcPts val="1300"/>
              </a:spcBef>
              <a:spcAft>
                <a:spcPts val="500"/>
              </a:spcAft>
            </a:pPr>
            <a:r>
              <a:rPr b="1" sz="2000">
                <a:solidFill>
                  <a:srgbClr val="180D43"/>
                </a:solidFill>
              </a:rPr>
              <a:t>What Tri-Supply gains:  </a:t>
            </a:r>
            <a:r>
              <a:rPr b="0" sz="2000">
                <a:solidFill>
                  <a:srgbClr val="232120"/>
                </a:solidFill>
              </a:rPr>
              <a:t>A complete wire, FastFinish, and premium closet lineup that complements existing MDF</a:t>
            </a:r>
          </a:p>
          <a:p>
            <a:pPr>
              <a:spcBef>
                <a:spcPts val="1300"/>
              </a:spcBef>
              <a:spcAft>
                <a:spcPts val="500"/>
              </a:spcAft>
            </a:pPr>
            <a:r>
              <a:rPr b="1" sz="2000">
                <a:solidFill>
                  <a:srgbClr val="180D43"/>
                </a:solidFill>
              </a:rPr>
              <a:t>Upside:  </a:t>
            </a:r>
            <a:r>
              <a:rPr b="0" sz="2000">
                <a:solidFill>
                  <a:srgbClr val="232120"/>
                </a:solidFill>
              </a:rPr>
              <a:t>Higher-frequency reorders, new builder accounts, and premium project opportunities</a:t>
            </a:r>
          </a:p>
          <a:p>
            <a:pPr>
              <a:spcBef>
                <a:spcPts val="1300"/>
              </a:spcBef>
              <a:spcAft>
                <a:spcPts val="500"/>
              </a:spcAft>
            </a:pPr>
            <a:r>
              <a:rPr b="1" sz="2000">
                <a:solidFill>
                  <a:srgbClr val="180D43"/>
                </a:solidFill>
              </a:rPr>
              <a:t>ClosetMaid Pro supports you:  </a:t>
            </a:r>
            <a:r>
              <a:rPr b="0" sz="2000">
                <a:solidFill>
                  <a:srgbClr val="232120"/>
                </a:solidFill>
              </a:rPr>
              <a:t>Training, point-of-sale materials, field support, and fast sampling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EE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"/>
            <a:ext cx="91440" cy="6766560"/>
          </a:xfrm>
          <a:prstGeom prst="rect">
            <a:avLst/>
          </a:prstGeom>
          <a:solidFill>
            <a:srgbClr val="EE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4747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80D43"/>
                </a:solidFill>
              </a:rPr>
              <a:t>ClosetMaid Pro Product Portfolio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051560"/>
            <a:ext cx="3840480" cy="50292"/>
          </a:xfrm>
          <a:prstGeom prst="rect">
            <a:avLst/>
          </a:prstGeom>
          <a:solidFill>
            <a:srgbClr val="EE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325880"/>
            <a:ext cx="5257800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325880"/>
            <a:ext cx="5257800" cy="118872"/>
          </a:xfrm>
          <a:prstGeom prst="rect">
            <a:avLst/>
          </a:prstGeom>
          <a:solidFill>
            <a:srgbClr val="EE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5087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E2E24"/>
                </a:solidFill>
              </a:rPr>
              <a:t>Wire Systems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039112"/>
            <a:ext cx="48463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32120"/>
                </a:solidFill>
              </a:rPr>
              <a:t>Lightweight, fast-install wire shelving
Ideal for reach-in closets and pantries
Resistant to sag and corrosion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46520" y="1325880"/>
            <a:ext cx="5257800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46520" y="1325880"/>
            <a:ext cx="5257800" cy="118872"/>
          </a:xfrm>
          <a:prstGeom prst="rect">
            <a:avLst/>
          </a:prstGeom>
          <a:solidFill>
            <a:srgbClr val="EE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47688" y="15087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E2E24"/>
                </a:solidFill>
              </a:rPr>
              <a:t>FastFinish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47688" y="2039112"/>
            <a:ext cx="48463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32120"/>
                </a:solidFill>
              </a:rPr>
              <a:t>No-miter, no-sand wood finishing system
Cuts install time significantly
Professional look, builder-friendly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794760"/>
            <a:ext cx="5257800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3794760"/>
            <a:ext cx="5257800" cy="118872"/>
          </a:xfrm>
          <a:prstGeom prst="rect">
            <a:avLst/>
          </a:prstGeom>
          <a:solidFill>
            <a:srgbClr val="EE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" y="39776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E2E24"/>
                </a:solidFill>
              </a:rPr>
              <a:t>ShelfTrack EVO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4507992"/>
            <a:ext cx="48463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32120"/>
                </a:solidFill>
              </a:rPr>
              <a:t>Premium adjustable closet system
Engineered for strength and aesthetics
Designed for high-end residential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46520" y="3794760"/>
            <a:ext cx="5257800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46520" y="3794760"/>
            <a:ext cx="5257800" cy="118872"/>
          </a:xfrm>
          <a:prstGeom prst="rect">
            <a:avLst/>
          </a:prstGeom>
          <a:solidFill>
            <a:srgbClr val="EE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47688" y="39776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E2E24"/>
                </a:solidFill>
              </a:rPr>
              <a:t>MasterSuite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47688" y="4507992"/>
            <a:ext cx="48463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32120"/>
                </a:solidFill>
              </a:rPr>
              <a:t>Luxury closet storage solution
Full customization for walk-in closets
High perceived value for builders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EE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"/>
            <a:ext cx="91440" cy="6766560"/>
          </a:xfrm>
          <a:prstGeom prst="rect">
            <a:avLst/>
          </a:prstGeom>
          <a:solidFill>
            <a:srgbClr val="EE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47472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80D43"/>
                </a:solidFill>
              </a:rPr>
              <a:t>The Process — Simple, Supported, Fast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051560"/>
            <a:ext cx="5303520" cy="50292"/>
          </a:xfrm>
          <a:prstGeom prst="rect">
            <a:avLst/>
          </a:prstGeom>
          <a:solidFill>
            <a:srgbClr val="EE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371600"/>
            <a:ext cx="502920" cy="502920"/>
          </a:xfrm>
          <a:prstGeom prst="rect">
            <a:avLst/>
          </a:prstGeom>
          <a:solidFill>
            <a:srgbClr val="EE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6596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80D43"/>
                </a:solidFill>
              </a:rPr>
              <a:t>Place the Order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2194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32120"/>
                </a:solidFill>
              </a:rPr>
              <a:t>Submit via your ClosetMaid Pro rep or portal. No minimums for initial setup orders.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26080" y="1371600"/>
            <a:ext cx="502920" cy="502920"/>
          </a:xfrm>
          <a:prstGeom prst="rect">
            <a:avLst/>
          </a:prstGeom>
          <a:solidFill>
            <a:srgbClr val="EE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0" y="13716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196596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80D43"/>
                </a:solidFill>
              </a:rPr>
              <a:t>Confirmation &amp; Spec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487168"/>
            <a:ext cx="2194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32120"/>
                </a:solidFill>
              </a:rPr>
              <a:t>Your rep confirms specs and lead times. Any questions handled before production.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66360" y="1371600"/>
            <a:ext cx="502920" cy="502920"/>
          </a:xfrm>
          <a:prstGeom prst="rect">
            <a:avLst/>
          </a:prstGeom>
          <a:solidFill>
            <a:srgbClr val="EE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66360" y="13716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60" y="196596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80D43"/>
                </a:solidFill>
              </a:rPr>
              <a:t>Production &amp; QC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6360" y="2487168"/>
            <a:ext cx="2194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32120"/>
                </a:solidFill>
              </a:rPr>
              <a:t>ClosetMaid handles manufacturing and quality control. You focus on your builders.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06640" y="1371600"/>
            <a:ext cx="502920" cy="502920"/>
          </a:xfrm>
          <a:prstGeom prst="rect">
            <a:avLst/>
          </a:prstGeom>
          <a:solidFill>
            <a:srgbClr val="EE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0" y="13716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196596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80D43"/>
                </a:solidFill>
              </a:rPr>
              <a:t>Delivery to Tri-Supply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2487168"/>
            <a:ext cx="2194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32120"/>
                </a:solidFill>
              </a:rPr>
              <a:t>Product ships to your location with tracking. Clear labeling and packaging.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46920" y="1371600"/>
            <a:ext cx="502920" cy="502920"/>
          </a:xfrm>
          <a:prstGeom prst="rect">
            <a:avLst/>
          </a:prstGeom>
          <a:solidFill>
            <a:srgbClr val="EE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46920" y="13716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46920" y="196596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80D43"/>
                </a:solidFill>
              </a:rPr>
              <a:t>Builder Installation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46920" y="2487168"/>
            <a:ext cx="2194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32120"/>
                </a:solidFill>
              </a:rPr>
              <a:t>Your builders install using provided guides. Field support available if needed.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5577840"/>
            <a:ext cx="109728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5650992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232120"/>
                </a:solidFill>
              </a:rPr>
              <a:t>Your ClosetMaid Pro rep is with you every step — from first order to builder training.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32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EE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7548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Getting Started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234440"/>
            <a:ext cx="2377440" cy="50292"/>
          </a:xfrm>
          <a:prstGeom prst="rect">
            <a:avLst/>
          </a:prstGeom>
          <a:solidFill>
            <a:srgbClr val="EE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572768"/>
            <a:ext cx="274320" cy="274320"/>
          </a:xfrm>
          <a:prstGeom prst="rect">
            <a:avLst/>
          </a:prstGeom>
          <a:solidFill>
            <a:srgbClr val="EE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98448" y="1508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Set Up Your Account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1929384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757575"/>
                </a:solidFill>
              </a:rPr>
              <a:t>Complete the Tri-Supply account setup with your ClosetMaid Pro rep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505456"/>
            <a:ext cx="274320" cy="274320"/>
          </a:xfrm>
          <a:prstGeom prst="rect">
            <a:avLst/>
          </a:prstGeom>
          <a:solidFill>
            <a:srgbClr val="EE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98448" y="244144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Order Initial Samples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286207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757575"/>
                </a:solidFill>
              </a:rPr>
              <a:t>Request your starter sample pack — wire, FastFinish, and both premium systems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438144"/>
            <a:ext cx="274320" cy="274320"/>
          </a:xfrm>
          <a:prstGeom prst="rect">
            <a:avLst/>
          </a:prstGeom>
          <a:solidFill>
            <a:srgbClr val="EE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98448" y="3374136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Schedule Builder Training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8448" y="3794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757575"/>
                </a:solidFill>
              </a:rPr>
              <a:t>Book a 30-min virtual or in-person walkthrough for your team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4370832"/>
            <a:ext cx="274320" cy="274320"/>
          </a:xfrm>
          <a:prstGeom prst="rect">
            <a:avLst/>
          </a:prstGeom>
          <a:solidFill>
            <a:srgbClr val="EE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98448" y="4306824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Request POS Materials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8448" y="472744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757575"/>
                </a:solidFill>
              </a:rPr>
              <a:t>Get catalogs, spec sheets, and builder-facing sell sheets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5303520"/>
            <a:ext cx="274320" cy="274320"/>
          </a:xfrm>
          <a:prstGeom prst="rect">
            <a:avLst/>
          </a:prstGeom>
          <a:solidFill>
            <a:srgbClr val="EE2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98448" y="523951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Set Your First Order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8448" y="5660136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757575"/>
                </a:solidFill>
              </a:rPr>
              <a:t>Place your first stock order and establish your initial inventory baseline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2636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757575"/>
                </a:solidFill>
              </a:rPr>
              <a:t>Your ClosetMaid Pro Rep: David  —  david@traditionsales.com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